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8" autoAdjust="0"/>
    <p:restoredTop sz="94660"/>
  </p:normalViewPr>
  <p:slideViewPr>
    <p:cSldViewPr snapToGrid="0">
      <p:cViewPr>
        <p:scale>
          <a:sx n="75" d="100"/>
          <a:sy n="75" d="100"/>
        </p:scale>
        <p:origin x="275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0BD38-8C89-4876-95F0-4A849D91216A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90BFC-16F9-42EF-B7C0-13186D142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36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90BFC-16F9-42EF-B7C0-13186D14275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390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2CF7-2D60-3B0B-471F-D1DDD3F7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B9A6D-A20C-4BC5-4B08-E6539BE96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40BB5-86CC-03B3-3BBE-1AE324FBE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B10E-50BA-9133-CC13-3516230A5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90BFC-16F9-42EF-B7C0-13186D14275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56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17CD-C24F-FDBC-1C3C-B5C61CE6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75908-3C2E-A049-0B3C-EFCB897E1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A86F2-77A7-0CCE-A87A-1D1BD6991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D09E-0BB9-19C9-E0BF-B62EAEA63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90BFC-16F9-42EF-B7C0-13186D1427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8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F0F9-3E7A-16C3-B718-D83838B4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F6A1A-9738-A6A1-2BAA-68F4BCF30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5C252-9D2A-04F0-5E33-FC3278458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D9122-095D-8608-C109-26249B9BF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90BFC-16F9-42EF-B7C0-13186D1427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468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4D8C-0EE6-DC8D-A918-08A5A5C7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7E809-5DD8-53CE-C9C4-6918A040D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ECAC2-4DAD-3DED-00CE-E68395D41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2C2EC-92F6-B486-5FA3-81D544834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90BFC-16F9-42EF-B7C0-13186D14275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879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8D3B-E767-7D5F-11B4-39C2B8DD0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AD82C-AE43-6225-A207-FF7FDCB74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B665-CD65-82F8-50A2-C304CBB3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A6E71-9EBE-54EA-1D67-C79209A1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8124-BE2F-DA08-41F0-1A5CC444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5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B14D-A600-F939-91C9-3C00207B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DEC1-2C31-ECE6-39CA-4DED19BCC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78594-6413-B063-90DC-5D49EB81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D427A-1866-0484-263E-019997AF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047CA-5DC1-0AFB-0F3E-5BAC03EE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33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BF86-5EEF-D96F-EB57-634E46F3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8E4FF-8A0B-48FC-83FF-5D9EE3E70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7AED9-C420-7BFD-B828-4066F71F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B51CD-38C8-F899-C31B-56664951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950B-89B3-01D9-52ED-544FE61E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56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D4DC-E3D4-DD25-D32B-77722C5C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CEFB8-1CEC-E368-923F-609F2FA8F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20E60-B8D7-9B1F-7668-1539790AE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39990-0B52-B72C-2A7D-4B91D999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382EB-CB0D-1A3E-306C-57E279D0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0DA02-C85C-74CF-6D44-C812CAC6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66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F0DA-7EAA-762A-AD3D-1E124A3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82B8E-7348-05C5-DFC7-548BE621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D9898-722E-1E69-6C43-32F1D7F44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B2757-BDF8-520E-8EED-281CCB451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94098-74F5-2242-6972-15A5827C4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77CBF-55F9-D36D-F93E-519EA5EA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22EBA-769A-E236-626B-00274C6E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1753-5345-B2C4-9701-93A6ADEB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57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B9F1-AFB7-10A2-76CF-EB9E8A5D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24437-549B-6962-07A0-17F1544A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6DCBC-BE59-23A1-1C24-1F974F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848F0-8535-C990-746E-A6F2DD8A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137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20B4E-7B15-90A2-FA98-1E293121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42D35-6EC1-14E5-4D77-B5F8ED32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B392D-45F9-BFF8-72A4-9F64630FB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63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D395-F36B-C3AD-CCDA-4CCBA859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BE93-FFC8-7979-51B7-7B7D1C3A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1BF31-8ECF-3D4D-4370-11B1476B2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B6971-E0DF-90C2-BD43-17335F09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9199A-FB07-7269-AAA6-51FF5A7E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3662C-E182-75DC-4D31-D4C6F8E6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72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05E3-D500-DAE8-7ED9-5F496779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6F6C2-1605-EF58-CC3F-C27A00A65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557D9-B317-075C-5A46-0E2E86EB7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433D2-D307-5B67-AD5B-0ED76366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099C2-22CC-19B7-1C2B-B45ADA84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B95A7-C3E4-B244-CAF5-C530403C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53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C98F-6331-EDC1-2483-40C69826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2E2F0-460C-BF9E-3B58-D295A037B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25F3-CFD2-9342-60A8-0CD9103D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ED818-41E3-515A-EBD5-EB6D877E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64E03-5B8F-40C1-90A4-4E994DA7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57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ACC28-5D70-220B-1EAB-A26CA383E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B613D-9056-3058-E779-14A47E8A6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F8D9-3E86-62EC-738B-69EF8A6A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F02F0-350C-03AE-98A2-4A4F3B18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3464-E473-8D79-4C13-EBAF6F7D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69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7620D-532E-9042-ABCC-12A2773B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DAB37-ED4A-6A18-7227-85F9DD984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337F6-1697-28BE-8940-4318E5144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1294A-E68E-4AA5-8CAB-B7D1FC6355B1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80097-7332-2FA9-4424-30E5D9F4A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7E1D0-B1D0-F3F9-8600-8325F03A1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A7A96-9652-47BE-9B8F-6060285D1CA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11.png"/><Relationship Id="rId4" Type="http://schemas.openxmlformats.org/officeDocument/2006/relationships/image" Target="../media/image3.jpeg"/><Relationship Id="rId9" Type="http://schemas.microsoft.com/office/2007/relationships/hdphoto" Target="../media/hdphoto1.wdp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11.png"/><Relationship Id="rId4" Type="http://schemas.openxmlformats.org/officeDocument/2006/relationships/image" Target="../media/image3.jpeg"/><Relationship Id="rId9" Type="http://schemas.microsoft.com/office/2007/relationships/hdphoto" Target="../media/hdphoto1.wdp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11.png"/><Relationship Id="rId19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3.png"/><Relationship Id="rId18" Type="http://schemas.openxmlformats.org/officeDocument/2006/relationships/image" Target="../media/image8.png"/><Relationship Id="rId3" Type="http://schemas.openxmlformats.org/officeDocument/2006/relationships/image" Target="../media/image2.png"/><Relationship Id="rId21" Type="http://schemas.openxmlformats.org/officeDocument/2006/relationships/image" Target="../media/image3.jpe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microsoft.com/office/2007/relationships/hdphoto" Target="../media/hdphoto2.wdp"/><Relationship Id="rId19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larged image for LCARS Interface for Windo…">
            <a:extLst>
              <a:ext uri="{FF2B5EF4-FFF2-40B4-BE49-F238E27FC236}">
                <a16:creationId xmlns:a16="http://schemas.microsoft.com/office/drawing/2014/main" id="{005F111F-5BBE-9E55-206C-8619813DE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0" y="74504"/>
            <a:ext cx="6050468" cy="339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7530463-0EA2-AF49-0435-2340D7F38888}"/>
              </a:ext>
            </a:extLst>
          </p:cNvPr>
          <p:cNvSpPr/>
          <p:nvPr/>
        </p:nvSpPr>
        <p:spPr>
          <a:xfrm>
            <a:off x="1332646" y="5834938"/>
            <a:ext cx="1016911" cy="311634"/>
          </a:xfrm>
          <a:custGeom>
            <a:avLst/>
            <a:gdLst>
              <a:gd name="connsiteX0" fmla="*/ 0 w 1016911"/>
              <a:gd name="connsiteY0" fmla="*/ 307534 h 311634"/>
              <a:gd name="connsiteX1" fmla="*/ 336237 w 1016911"/>
              <a:gd name="connsiteY1" fmla="*/ 311634 h 311634"/>
              <a:gd name="connsiteX2" fmla="*/ 344437 w 1016911"/>
              <a:gd name="connsiteY2" fmla="*/ 131214 h 311634"/>
              <a:gd name="connsiteX3" fmla="*/ 557661 w 1016911"/>
              <a:gd name="connsiteY3" fmla="*/ 0 h 311634"/>
              <a:gd name="connsiteX4" fmla="*/ 1016911 w 1016911"/>
              <a:gd name="connsiteY4" fmla="*/ 12301 h 31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911" h="311634">
                <a:moveTo>
                  <a:pt x="0" y="307534"/>
                </a:moveTo>
                <a:lnTo>
                  <a:pt x="336237" y="311634"/>
                </a:lnTo>
                <a:lnTo>
                  <a:pt x="344437" y="131214"/>
                </a:lnTo>
                <a:lnTo>
                  <a:pt x="557661" y="0"/>
                </a:lnTo>
                <a:lnTo>
                  <a:pt x="1016911" y="1230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80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9649CA-1539-1997-2778-8B4172491749}"/>
              </a:ext>
            </a:extLst>
          </p:cNvPr>
          <p:cNvSpPr/>
          <p:nvPr/>
        </p:nvSpPr>
        <p:spPr>
          <a:xfrm>
            <a:off x="-44966" y="0"/>
            <a:ext cx="17280000" cy="1152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D066B9-63D2-8A0C-1ADF-20C986833D3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</a:blip>
          <a:srcRect r="18496"/>
          <a:stretch/>
        </p:blipFill>
        <p:spPr>
          <a:xfrm>
            <a:off x="4677027" y="-14989"/>
            <a:ext cx="12558007" cy="11534989"/>
          </a:xfrm>
          <a:prstGeom prst="rect">
            <a:avLst/>
          </a:prstGeom>
        </p:spPr>
      </p:pic>
      <p:pic>
        <p:nvPicPr>
          <p:cNvPr id="2050" name="Picture 2" descr="brewery fermenters">
            <a:extLst>
              <a:ext uri="{FF2B5EF4-FFF2-40B4-BE49-F238E27FC236}">
                <a16:creationId xmlns:a16="http://schemas.microsoft.com/office/drawing/2014/main" id="{02462C21-DE0B-3EE4-6081-799EDB2F3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0" r="32181"/>
          <a:stretch/>
        </p:blipFill>
        <p:spPr bwMode="auto">
          <a:xfrm>
            <a:off x="505838" y="2000885"/>
            <a:ext cx="3949430" cy="897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4A4855-C862-FDAE-23BC-19F3D575B7C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64" y="400282"/>
            <a:ext cx="807348" cy="808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AB022F-EFC1-E5C3-9CB0-C260BB3086A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3794158" y="374132"/>
            <a:ext cx="807348" cy="80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B709EE-825C-C3D3-C7BF-08CD4A2A3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49" y="400283"/>
            <a:ext cx="1128651" cy="803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20672D-974A-CD85-308E-3B4B4D89B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2547" y="3591654"/>
            <a:ext cx="741146" cy="15874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63A9D1-7511-A7DD-C691-2970B791555F}"/>
              </a:ext>
            </a:extLst>
          </p:cNvPr>
          <p:cNvSpPr txBox="1"/>
          <p:nvPr/>
        </p:nvSpPr>
        <p:spPr>
          <a:xfrm>
            <a:off x="2148977" y="316895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152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326E-5935-3438-C787-C01D758D3086}"/>
              </a:ext>
            </a:extLst>
          </p:cNvPr>
          <p:cNvSpPr txBox="1"/>
          <p:nvPr/>
        </p:nvSpPr>
        <p:spPr>
          <a:xfrm>
            <a:off x="1407861" y="4315106"/>
            <a:ext cx="188705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4272490-D6EF-9A4B-620F-C233992DD0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707" y="7036885"/>
            <a:ext cx="3581900" cy="122889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72D652D-E1D2-E511-544F-570123D051B4}"/>
              </a:ext>
            </a:extLst>
          </p:cNvPr>
          <p:cNvSpPr txBox="1"/>
          <p:nvPr/>
        </p:nvSpPr>
        <p:spPr>
          <a:xfrm>
            <a:off x="8410947" y="174781"/>
            <a:ext cx="8031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66FF"/>
                </a:solidFill>
              </a:rPr>
              <a:t>New </a:t>
            </a:r>
            <a:r>
              <a:rPr lang="pt-BR" sz="4800" dirty="0" err="1">
                <a:solidFill>
                  <a:srgbClr val="FF66FF"/>
                </a:solidFill>
              </a:rPr>
              <a:t>zealand</a:t>
            </a:r>
            <a:r>
              <a:rPr lang="pt-BR" sz="4800" dirty="0">
                <a:solidFill>
                  <a:srgbClr val="FF66FF"/>
                </a:solidFill>
              </a:rPr>
              <a:t> American Pale Ale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06618BF7-E94F-766F-EA95-8B5464DA0B01}"/>
              </a:ext>
            </a:extLst>
          </p:cNvPr>
          <p:cNvSpPr txBox="1"/>
          <p:nvPr/>
        </p:nvSpPr>
        <p:spPr>
          <a:xfrm>
            <a:off x="4961106" y="296163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Arial Black" panose="020B0A04020102020204" pitchFamily="34" charset="0"/>
              </a:rPr>
              <a:t>15/12/30</a:t>
            </a:r>
            <a:endParaRPr lang="pt-BR" b="1" dirty="0">
              <a:latin typeface="Arial Black" panose="020B0A04020102020204" pitchFamily="34" charset="0"/>
            </a:endParaRPr>
          </a:p>
        </p:txBody>
      </p:sp>
      <p:pic>
        <p:nvPicPr>
          <p:cNvPr id="2053" name="Picture 2052">
            <a:extLst>
              <a:ext uri="{FF2B5EF4-FFF2-40B4-BE49-F238E27FC236}">
                <a16:creationId xmlns:a16="http://schemas.microsoft.com/office/drawing/2014/main" id="{D94A9012-D870-BB36-EFFB-68D8D1AB26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2547" y="8284858"/>
            <a:ext cx="908159" cy="1359169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30DB4300-B8EA-C17A-377E-BA5DFB377C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265" y="5716750"/>
            <a:ext cx="946935" cy="1848736"/>
          </a:xfrm>
          <a:prstGeom prst="rect">
            <a:avLst/>
          </a:prstGeom>
        </p:spPr>
      </p:pic>
      <p:sp>
        <p:nvSpPr>
          <p:cNvPr id="2060" name="TextBox 2059">
            <a:extLst>
              <a:ext uri="{FF2B5EF4-FFF2-40B4-BE49-F238E27FC236}">
                <a16:creationId xmlns:a16="http://schemas.microsoft.com/office/drawing/2014/main" id="{5CD667B6-6D78-CCC3-41D6-C0311097143A}"/>
              </a:ext>
            </a:extLst>
          </p:cNvPr>
          <p:cNvSpPr txBox="1"/>
          <p:nvPr/>
        </p:nvSpPr>
        <p:spPr>
          <a:xfrm>
            <a:off x="10810178" y="3166532"/>
            <a:ext cx="1741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17.2ºC</a:t>
            </a:r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86FB11F9-3CD2-D9E7-8D66-7B8F6A7D1CB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2083" y="3216740"/>
            <a:ext cx="594329" cy="595440"/>
          </a:xfrm>
          <a:prstGeom prst="rect">
            <a:avLst/>
          </a:prstGeom>
        </p:spPr>
      </p:pic>
      <p:pic>
        <p:nvPicPr>
          <p:cNvPr id="2062" name="Picture 2061">
            <a:extLst>
              <a:ext uri="{FF2B5EF4-FFF2-40B4-BE49-F238E27FC236}">
                <a16:creationId xmlns:a16="http://schemas.microsoft.com/office/drawing/2014/main" id="{A447ECC6-CDB6-05DE-99BF-A47AD1B60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4887" y="3216740"/>
            <a:ext cx="4120580" cy="542123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41C309DE-1EB6-1FE7-4E5F-4C73EE77BD2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454419" y="3207015"/>
            <a:ext cx="594329" cy="542123"/>
          </a:xfrm>
          <a:prstGeom prst="rect">
            <a:avLst/>
          </a:prstGeom>
        </p:spPr>
      </p:pic>
      <p:sp>
        <p:nvSpPr>
          <p:cNvPr id="2064" name="TextBox 2063">
            <a:extLst>
              <a:ext uri="{FF2B5EF4-FFF2-40B4-BE49-F238E27FC236}">
                <a16:creationId xmlns:a16="http://schemas.microsoft.com/office/drawing/2014/main" id="{E7FF16A9-BF95-12D7-C881-2FB053B4DE92}"/>
              </a:ext>
            </a:extLst>
          </p:cNvPr>
          <p:cNvSpPr txBox="1"/>
          <p:nvPr/>
        </p:nvSpPr>
        <p:spPr>
          <a:xfrm>
            <a:off x="12859114" y="3132661"/>
            <a:ext cx="3254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endParaRPr lang="pt-BR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CEFD456A-7DEC-F0C3-3421-D2545A1E37BB}"/>
              </a:ext>
            </a:extLst>
          </p:cNvPr>
          <p:cNvSpPr txBox="1"/>
          <p:nvPr/>
        </p:nvSpPr>
        <p:spPr>
          <a:xfrm>
            <a:off x="10801715" y="3911601"/>
            <a:ext cx="1276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17.0ºC</a:t>
            </a:r>
          </a:p>
        </p:txBody>
      </p:sp>
      <p:pic>
        <p:nvPicPr>
          <p:cNvPr id="2067" name="Picture 2066">
            <a:extLst>
              <a:ext uri="{FF2B5EF4-FFF2-40B4-BE49-F238E27FC236}">
                <a16:creationId xmlns:a16="http://schemas.microsoft.com/office/drawing/2014/main" id="{419071DC-8383-FE1C-8562-609A74A3684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3620" y="3961809"/>
            <a:ext cx="594329" cy="595440"/>
          </a:xfrm>
          <a:prstGeom prst="rect">
            <a:avLst/>
          </a:prstGeom>
        </p:spPr>
      </p:pic>
      <p:pic>
        <p:nvPicPr>
          <p:cNvPr id="2068" name="Picture 2067">
            <a:extLst>
              <a:ext uri="{FF2B5EF4-FFF2-40B4-BE49-F238E27FC236}">
                <a16:creationId xmlns:a16="http://schemas.microsoft.com/office/drawing/2014/main" id="{DD7EBFF7-642D-D0E9-8E0A-68F439C9C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6424" y="3961809"/>
            <a:ext cx="3058856" cy="542123"/>
          </a:xfrm>
          <a:prstGeom prst="rect">
            <a:avLst/>
          </a:prstGeom>
        </p:spPr>
      </p:pic>
      <p:sp>
        <p:nvSpPr>
          <p:cNvPr id="2069" name="TextBox 2068">
            <a:extLst>
              <a:ext uri="{FF2B5EF4-FFF2-40B4-BE49-F238E27FC236}">
                <a16:creationId xmlns:a16="http://schemas.microsoft.com/office/drawing/2014/main" id="{09E93385-B253-64C1-CA7B-3F22DCC50E19}"/>
              </a:ext>
            </a:extLst>
          </p:cNvPr>
          <p:cNvSpPr txBox="1"/>
          <p:nvPr/>
        </p:nvSpPr>
        <p:spPr>
          <a:xfrm>
            <a:off x="12850651" y="3877730"/>
            <a:ext cx="22349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Setpoint</a:t>
            </a:r>
            <a:endParaRPr lang="pt-BR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A26B116F-4688-E7F0-F952-2DFE66E13A89}"/>
              </a:ext>
            </a:extLst>
          </p:cNvPr>
          <p:cNvSpPr txBox="1"/>
          <p:nvPr/>
        </p:nvSpPr>
        <p:spPr>
          <a:xfrm>
            <a:off x="10810178" y="4597399"/>
            <a:ext cx="1276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17.0ºC</a:t>
            </a:r>
          </a:p>
        </p:txBody>
      </p:sp>
      <p:pic>
        <p:nvPicPr>
          <p:cNvPr id="2071" name="Picture 2070">
            <a:extLst>
              <a:ext uri="{FF2B5EF4-FFF2-40B4-BE49-F238E27FC236}">
                <a16:creationId xmlns:a16="http://schemas.microsoft.com/office/drawing/2014/main" id="{7A78E85A-948E-DA4D-688C-DD4C57894A8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2083" y="4647607"/>
            <a:ext cx="594329" cy="595440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5228DB4E-1AF1-E9CD-B996-790E5E5EA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4887" y="4647607"/>
            <a:ext cx="4120580" cy="542123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39806395-BE9C-3769-55D2-10EB529435F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461192" y="4646345"/>
            <a:ext cx="594329" cy="542123"/>
          </a:xfrm>
          <a:prstGeom prst="rect">
            <a:avLst/>
          </a:prstGeom>
        </p:spPr>
      </p:pic>
      <p:pic>
        <p:nvPicPr>
          <p:cNvPr id="2075" name="Picture 2074">
            <a:extLst>
              <a:ext uri="{FF2B5EF4-FFF2-40B4-BE49-F238E27FC236}">
                <a16:creationId xmlns:a16="http://schemas.microsoft.com/office/drawing/2014/main" id="{1CCE76F9-2C9B-07C1-D83C-956EA85D0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3917" y="3471104"/>
            <a:ext cx="897454" cy="489444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D20B542E-0A41-B5A3-00A4-ECCF0EB21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3917" y="4400744"/>
            <a:ext cx="897454" cy="489444"/>
          </a:xfrm>
          <a:prstGeom prst="rect">
            <a:avLst/>
          </a:prstGeom>
        </p:spPr>
      </p:pic>
      <p:sp>
        <p:nvSpPr>
          <p:cNvPr id="2073" name="TextBox 2072">
            <a:extLst>
              <a:ext uri="{FF2B5EF4-FFF2-40B4-BE49-F238E27FC236}">
                <a16:creationId xmlns:a16="http://schemas.microsoft.com/office/drawing/2014/main" id="{A73C981C-F8AB-9F74-FBE7-1214DD962046}"/>
              </a:ext>
            </a:extLst>
          </p:cNvPr>
          <p:cNvSpPr txBox="1"/>
          <p:nvPr/>
        </p:nvSpPr>
        <p:spPr>
          <a:xfrm>
            <a:off x="12833717" y="4571997"/>
            <a:ext cx="351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r>
              <a:rPr lang="pt-BR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setpoint</a:t>
            </a:r>
            <a:endParaRPr lang="pt-BR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77" name="Picture 2076">
            <a:extLst>
              <a:ext uri="{FF2B5EF4-FFF2-40B4-BE49-F238E27FC236}">
                <a16:creationId xmlns:a16="http://schemas.microsoft.com/office/drawing/2014/main" id="{0205E949-9202-59DF-F9FA-1A49BC1678A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5450039" y="3961809"/>
            <a:ext cx="594329" cy="54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5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0819-682A-756E-F1AE-23875DF9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8D17F6-0FC4-492F-E30B-C067FB1BA910}"/>
              </a:ext>
            </a:extLst>
          </p:cNvPr>
          <p:cNvSpPr/>
          <p:nvPr/>
        </p:nvSpPr>
        <p:spPr>
          <a:xfrm>
            <a:off x="-44966" y="0"/>
            <a:ext cx="17280000" cy="1152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B1E25-C81F-2649-8144-B4FBAD01CC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18496"/>
          <a:stretch/>
        </p:blipFill>
        <p:spPr>
          <a:xfrm>
            <a:off x="4675356" y="0"/>
            <a:ext cx="12558007" cy="11534989"/>
          </a:xfrm>
          <a:prstGeom prst="rect">
            <a:avLst/>
          </a:prstGeom>
        </p:spPr>
      </p:pic>
      <p:pic>
        <p:nvPicPr>
          <p:cNvPr id="2050" name="Picture 2" descr="brewery fermenters">
            <a:extLst>
              <a:ext uri="{FF2B5EF4-FFF2-40B4-BE49-F238E27FC236}">
                <a16:creationId xmlns:a16="http://schemas.microsoft.com/office/drawing/2014/main" id="{DC31D7A6-DFC0-6320-9871-F60EDAF86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0" r="32181"/>
          <a:stretch/>
        </p:blipFill>
        <p:spPr bwMode="auto">
          <a:xfrm>
            <a:off x="505838" y="2426741"/>
            <a:ext cx="3949430" cy="897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F12CB-C9A2-793D-87B0-02F554C8C7F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64" y="400282"/>
            <a:ext cx="807348" cy="808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C9731E-2B5A-3168-2CD1-F5FBB3F40B4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3794158" y="374132"/>
            <a:ext cx="807348" cy="80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F73453-F05F-BF16-468A-FB7ACACB6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49" y="400283"/>
            <a:ext cx="1341647" cy="8034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B18906-CDCA-4CAC-50BF-9F90E108ADA7}"/>
              </a:ext>
            </a:extLst>
          </p:cNvPr>
          <p:cNvSpPr txBox="1"/>
          <p:nvPr/>
        </p:nvSpPr>
        <p:spPr>
          <a:xfrm>
            <a:off x="2460258" y="161255"/>
            <a:ext cx="11993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wiss911 UCm BT" panose="020B0608020202060204" pitchFamily="34" charset="0"/>
              </a:rPr>
              <a:t>152</a:t>
            </a:r>
            <a:endParaRPr lang="pt-BR" sz="5400" b="1" dirty="0">
              <a:solidFill>
                <a:schemeClr val="accent4">
                  <a:lumMod val="40000"/>
                  <a:lumOff val="60000"/>
                </a:schemeClr>
              </a:solidFill>
              <a:latin typeface="Swiss911 UCm BT" panose="020B060802020206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746D51-DA2C-8946-6C22-89BFCDF11036}"/>
              </a:ext>
            </a:extLst>
          </p:cNvPr>
          <p:cNvSpPr txBox="1"/>
          <p:nvPr/>
        </p:nvSpPr>
        <p:spPr>
          <a:xfrm>
            <a:off x="1505136" y="3748738"/>
            <a:ext cx="1638590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4400" b="1" dirty="0">
                <a:solidFill>
                  <a:schemeClr val="accent5">
                    <a:lumMod val="50000"/>
                  </a:schemeClr>
                </a:solidFill>
                <a:latin typeface="Swiss911 UCm BT" panose="020B0608020202060204" pitchFamily="34" charset="0"/>
              </a:rPr>
              <a:t>2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0DE198F-1175-AE02-4779-C0A2592EB0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707" y="7373767"/>
            <a:ext cx="3581900" cy="122889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262D419-511C-00D3-EC18-515D1C39D41B}"/>
              </a:ext>
            </a:extLst>
          </p:cNvPr>
          <p:cNvSpPr txBox="1"/>
          <p:nvPr/>
        </p:nvSpPr>
        <p:spPr>
          <a:xfrm>
            <a:off x="7866199" y="174781"/>
            <a:ext cx="8712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800" dirty="0">
                <a:solidFill>
                  <a:srgbClr val="FF66FF"/>
                </a:solidFill>
                <a:latin typeface="Swiss911 UCm BT" panose="020B0608020202060204" pitchFamily="34" charset="0"/>
              </a:rPr>
              <a:t>New </a:t>
            </a:r>
            <a:r>
              <a:rPr lang="pt-BR" sz="8800" dirty="0" err="1">
                <a:solidFill>
                  <a:srgbClr val="FF66FF"/>
                </a:solidFill>
                <a:latin typeface="Swiss911 UCm BT" panose="020B0608020202060204" pitchFamily="34" charset="0"/>
              </a:rPr>
              <a:t>zealand</a:t>
            </a:r>
            <a:r>
              <a:rPr lang="pt-BR" sz="8800" dirty="0">
                <a:solidFill>
                  <a:srgbClr val="FF66FF"/>
                </a:solidFill>
                <a:latin typeface="Swiss911 UCm BT" panose="020B0608020202060204" pitchFamily="34" charset="0"/>
              </a:rPr>
              <a:t> American Pale Ale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AA47E80F-D520-3EB2-5D9E-61F413E40D73}"/>
              </a:ext>
            </a:extLst>
          </p:cNvPr>
          <p:cNvSpPr txBox="1"/>
          <p:nvPr/>
        </p:nvSpPr>
        <p:spPr>
          <a:xfrm>
            <a:off x="9409397" y="3166532"/>
            <a:ext cx="1699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17.2</a:t>
            </a:r>
          </a:p>
        </p:txBody>
      </p:sp>
      <p:pic>
        <p:nvPicPr>
          <p:cNvPr id="2062" name="Picture 2061">
            <a:extLst>
              <a:ext uri="{FF2B5EF4-FFF2-40B4-BE49-F238E27FC236}">
                <a16:creationId xmlns:a16="http://schemas.microsoft.com/office/drawing/2014/main" id="{1D28179A-9C86-521B-43CF-966DDA007D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313" y="3216740"/>
            <a:ext cx="5054829" cy="542123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B8EE94A2-015C-0123-A374-211F9438670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54419" y="3207015"/>
            <a:ext cx="594329" cy="542123"/>
          </a:xfrm>
          <a:prstGeom prst="rect">
            <a:avLst/>
          </a:prstGeom>
        </p:spPr>
      </p:pic>
      <p:sp>
        <p:nvSpPr>
          <p:cNvPr id="2064" name="TextBox 2063">
            <a:extLst>
              <a:ext uri="{FF2B5EF4-FFF2-40B4-BE49-F238E27FC236}">
                <a16:creationId xmlns:a16="http://schemas.microsoft.com/office/drawing/2014/main" id="{74F033B3-1FE6-4823-AC09-9E92CD94C56D}"/>
              </a:ext>
            </a:extLst>
          </p:cNvPr>
          <p:cNvSpPr txBox="1"/>
          <p:nvPr/>
        </p:nvSpPr>
        <p:spPr>
          <a:xfrm>
            <a:off x="12859114" y="3132661"/>
            <a:ext cx="2958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Temperature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(ºC)</a:t>
            </a: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42DC91D8-B08F-F1B8-3026-C07EFD61BC32}"/>
              </a:ext>
            </a:extLst>
          </p:cNvPr>
          <p:cNvSpPr txBox="1"/>
          <p:nvPr/>
        </p:nvSpPr>
        <p:spPr>
          <a:xfrm>
            <a:off x="9400934" y="3911601"/>
            <a:ext cx="170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pic>
        <p:nvPicPr>
          <p:cNvPr id="2068" name="Picture 2067">
            <a:extLst>
              <a:ext uri="{FF2B5EF4-FFF2-40B4-BE49-F238E27FC236}">
                <a16:creationId xmlns:a16="http://schemas.microsoft.com/office/drawing/2014/main" id="{C6E87C2A-9890-6CED-0D3F-7A2A93C04FE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9" y="3961809"/>
            <a:ext cx="5054829" cy="542123"/>
          </a:xfrm>
          <a:prstGeom prst="rect">
            <a:avLst/>
          </a:prstGeom>
        </p:spPr>
      </p:pic>
      <p:sp>
        <p:nvSpPr>
          <p:cNvPr id="2069" name="TextBox 2068">
            <a:extLst>
              <a:ext uri="{FF2B5EF4-FFF2-40B4-BE49-F238E27FC236}">
                <a16:creationId xmlns:a16="http://schemas.microsoft.com/office/drawing/2014/main" id="{807EBD31-4806-86DC-DAE8-99CB02537809}"/>
              </a:ext>
            </a:extLst>
          </p:cNvPr>
          <p:cNvSpPr txBox="1"/>
          <p:nvPr/>
        </p:nvSpPr>
        <p:spPr>
          <a:xfrm>
            <a:off x="12850651" y="3877730"/>
            <a:ext cx="2244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(ºC)</a:t>
            </a: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AADAEBCB-8B9C-AB59-53BE-9E28B3BBA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6849" y="4647607"/>
            <a:ext cx="5054830" cy="542123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61ADCD70-0111-E16C-406F-21571260107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461192" y="4646345"/>
            <a:ext cx="594329" cy="542123"/>
          </a:xfrm>
          <a:prstGeom prst="rect">
            <a:avLst/>
          </a:prstGeom>
        </p:spPr>
      </p:pic>
      <p:sp>
        <p:nvSpPr>
          <p:cNvPr id="2073" name="TextBox 2072">
            <a:extLst>
              <a:ext uri="{FF2B5EF4-FFF2-40B4-BE49-F238E27FC236}">
                <a16:creationId xmlns:a16="http://schemas.microsoft.com/office/drawing/2014/main" id="{190D4E8D-F182-1CA7-7AA4-0024DA427730}"/>
              </a:ext>
            </a:extLst>
          </p:cNvPr>
          <p:cNvSpPr txBox="1"/>
          <p:nvPr/>
        </p:nvSpPr>
        <p:spPr>
          <a:xfrm>
            <a:off x="12833717" y="4571997"/>
            <a:ext cx="3122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Slow</a:t>
            </a:r>
            <a:r>
              <a:rPr lang="pt-BR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(ºC)</a:t>
            </a:r>
          </a:p>
        </p:txBody>
      </p:sp>
      <p:pic>
        <p:nvPicPr>
          <p:cNvPr id="2077" name="Picture 2076">
            <a:extLst>
              <a:ext uri="{FF2B5EF4-FFF2-40B4-BE49-F238E27FC236}">
                <a16:creationId xmlns:a16="http://schemas.microsoft.com/office/drawing/2014/main" id="{D8266368-FBB2-2597-41E5-FC9FD49FAE9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66566" y="3938750"/>
            <a:ext cx="594329" cy="5651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5A6D46-D347-BB76-795F-95051DCAFC39}"/>
              </a:ext>
            </a:extLst>
          </p:cNvPr>
          <p:cNvSpPr txBox="1"/>
          <p:nvPr/>
        </p:nvSpPr>
        <p:spPr>
          <a:xfrm>
            <a:off x="9417418" y="5985139"/>
            <a:ext cx="1697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70A3E-C8B1-54B3-8816-0B2BC2DB91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41668" y="5871714"/>
            <a:ext cx="5056496" cy="542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B09520-1305-B575-306F-6E491BB7F8A9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62440" y="5861989"/>
            <a:ext cx="594329" cy="542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B81411-5893-FD95-E0C6-098BC26A8F66}"/>
              </a:ext>
            </a:extLst>
          </p:cNvPr>
          <p:cNvSpPr txBox="1"/>
          <p:nvPr/>
        </p:nvSpPr>
        <p:spPr>
          <a:xfrm>
            <a:off x="12790027" y="5782814"/>
            <a:ext cx="26675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Pressure</a:t>
            </a:r>
            <a:r>
              <a:rPr lang="pt-BR" sz="4000" b="1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(bar)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AB8A8-65A7-8980-9DD5-BE76D81067CD}"/>
              </a:ext>
            </a:extLst>
          </p:cNvPr>
          <p:cNvSpPr txBox="1"/>
          <p:nvPr/>
        </p:nvSpPr>
        <p:spPr>
          <a:xfrm>
            <a:off x="9408955" y="6566580"/>
            <a:ext cx="170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3BCAFD-6E47-7173-A424-EFE4A9DD18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41668" y="6616788"/>
            <a:ext cx="5048032" cy="5421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EE86FE-E500-C114-85FE-D7ED52DD6C98}"/>
              </a:ext>
            </a:extLst>
          </p:cNvPr>
          <p:cNvSpPr txBox="1"/>
          <p:nvPr/>
        </p:nvSpPr>
        <p:spPr>
          <a:xfrm>
            <a:off x="12820172" y="6533509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(bar)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AE0B0-7B90-FC67-6A66-617D90448305}"/>
              </a:ext>
            </a:extLst>
          </p:cNvPr>
          <p:cNvSpPr txBox="1"/>
          <p:nvPr/>
        </p:nvSpPr>
        <p:spPr>
          <a:xfrm>
            <a:off x="9417417" y="7252378"/>
            <a:ext cx="170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5.3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3D2D70-91E1-D9BC-36EF-8BB6D03252E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33204" y="7302586"/>
            <a:ext cx="5056496" cy="542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36E64F-CEBA-422B-4E8D-3442A3D506E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69213" y="7301324"/>
            <a:ext cx="594329" cy="5421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780343-121F-CB1E-797F-34A77B0A3DFC}"/>
              </a:ext>
            </a:extLst>
          </p:cNvPr>
          <p:cNvSpPr txBox="1"/>
          <p:nvPr/>
        </p:nvSpPr>
        <p:spPr>
          <a:xfrm>
            <a:off x="12832113" y="7211601"/>
            <a:ext cx="250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Vents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per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hour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08E148-9B3E-DC1C-1D00-A18047737B2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74588" y="6576796"/>
            <a:ext cx="594329" cy="54212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255840-C5AB-8032-D009-935B23A9611A}"/>
              </a:ext>
            </a:extLst>
          </p:cNvPr>
          <p:cNvSpPr txBox="1"/>
          <p:nvPr/>
        </p:nvSpPr>
        <p:spPr>
          <a:xfrm>
            <a:off x="10048609" y="8271438"/>
            <a:ext cx="1101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87.2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CBC14E-E746-07AD-46CD-8646749535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3204" y="8362423"/>
            <a:ext cx="5074143" cy="5421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1EBEEF-1A88-75D4-5F29-0DEF728410E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86860" y="8361161"/>
            <a:ext cx="594329" cy="5421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0A03B40-A731-FDF2-E693-09E807D6DB6B}"/>
              </a:ext>
            </a:extLst>
          </p:cNvPr>
          <p:cNvSpPr txBox="1"/>
          <p:nvPr/>
        </p:nvSpPr>
        <p:spPr>
          <a:xfrm>
            <a:off x="12849760" y="8271438"/>
            <a:ext cx="2593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Est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Volume (L)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83EDE4-EBF5-DCDA-3EB4-B25175289B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376" y="4936976"/>
            <a:ext cx="3581900" cy="1228896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09B6D752-F7A3-7317-0AA5-5201465CE403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090909"/>
              </a:clrFrom>
              <a:clrTo>
                <a:srgbClr val="09090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29140" y="5967006"/>
            <a:ext cx="946935" cy="1848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2EA1B5-6908-93B2-E6EE-783F3435C3BE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0B0C0B"/>
              </a:clrFrom>
              <a:clrTo>
                <a:srgbClr val="0B0C0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2547" y="3591654"/>
            <a:ext cx="741146" cy="15874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D384293-9704-325A-80AB-E3FB4799AE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7356" y="4925940"/>
            <a:ext cx="2855912" cy="1028844"/>
          </a:xfrm>
          <a:prstGeom prst="rect">
            <a:avLst/>
          </a:prstGeom>
        </p:spPr>
      </p:pic>
      <p:pic>
        <p:nvPicPr>
          <p:cNvPr id="2049" name="Picture 2048">
            <a:extLst>
              <a:ext uri="{FF2B5EF4-FFF2-40B4-BE49-F238E27FC236}">
                <a16:creationId xmlns:a16="http://schemas.microsoft.com/office/drawing/2014/main" id="{18870FDF-36DB-3982-AD4C-F1E76AFCCB3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5923" y="5947954"/>
            <a:ext cx="2766060" cy="1236514"/>
          </a:xfrm>
          <a:prstGeom prst="rect">
            <a:avLst/>
          </a:prstGeom>
        </p:spPr>
      </p:pic>
      <p:sp>
        <p:nvSpPr>
          <p:cNvPr id="2070" name="TextBox 2069">
            <a:extLst>
              <a:ext uri="{FF2B5EF4-FFF2-40B4-BE49-F238E27FC236}">
                <a16:creationId xmlns:a16="http://schemas.microsoft.com/office/drawing/2014/main" id="{CAB05B61-9FA7-3604-02E6-B47821E79FDB}"/>
              </a:ext>
            </a:extLst>
          </p:cNvPr>
          <p:cNvSpPr txBox="1"/>
          <p:nvPr/>
        </p:nvSpPr>
        <p:spPr>
          <a:xfrm>
            <a:off x="9409397" y="4597399"/>
            <a:ext cx="1714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3409C476-76D6-A40F-C9F3-6BB37E76324B}"/>
              </a:ext>
            </a:extLst>
          </p:cNvPr>
          <p:cNvSpPr txBox="1"/>
          <p:nvPr/>
        </p:nvSpPr>
        <p:spPr>
          <a:xfrm>
            <a:off x="4658247" y="5989375"/>
            <a:ext cx="284725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spc="300" dirty="0">
                <a:latin typeface="Swiss911 UCm BT" panose="020B0608020202060204" pitchFamily="34" charset="0"/>
              </a:rPr>
              <a:t>15/12/30</a:t>
            </a:r>
          </a:p>
          <a:p>
            <a:pPr algn="ctr"/>
            <a:r>
              <a:rPr lang="pt-BR" sz="6600" spc="300" dirty="0">
                <a:latin typeface="Swiss911 UCm BT" panose="020B0608020202060204" pitchFamily="34" charset="0"/>
              </a:rPr>
              <a:t>OG 1.056</a:t>
            </a:r>
          </a:p>
          <a:p>
            <a:pPr algn="ctr"/>
            <a:r>
              <a:rPr lang="pt-BR" sz="6600" spc="300" dirty="0">
                <a:latin typeface="Swiss911 UCm BT" panose="020B0608020202060204" pitchFamily="34" charset="0"/>
              </a:rPr>
              <a:t>58kg CO</a:t>
            </a:r>
            <a:r>
              <a:rPr lang="pt-BR" sz="6600" spc="300" baseline="-25000" dirty="0">
                <a:latin typeface="Swiss911 UCm BT" panose="020B0608020202060204" pitchFamily="34" charset="0"/>
              </a:rPr>
              <a:t>2</a:t>
            </a:r>
          </a:p>
          <a:p>
            <a:endParaRPr lang="pt-BR" sz="6600" b="1" dirty="0">
              <a:latin typeface="Swiss911 UCm BT" panose="020B0608020202060204" pitchFamily="34" charset="0"/>
            </a:endParaRPr>
          </a:p>
        </p:txBody>
      </p:sp>
      <p:pic>
        <p:nvPicPr>
          <p:cNvPr id="2054" name="Picture 2053">
            <a:extLst>
              <a:ext uri="{FF2B5EF4-FFF2-40B4-BE49-F238E27FC236}">
                <a16:creationId xmlns:a16="http://schemas.microsoft.com/office/drawing/2014/main" id="{840189C3-6380-196E-C135-C1707887B1F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49417" y="9117937"/>
            <a:ext cx="5074143" cy="542123"/>
          </a:xfrm>
          <a:prstGeom prst="rect">
            <a:avLst/>
          </a:prstGeom>
        </p:spPr>
      </p:pic>
      <p:pic>
        <p:nvPicPr>
          <p:cNvPr id="2055" name="Picture 2054">
            <a:extLst>
              <a:ext uri="{FF2B5EF4-FFF2-40B4-BE49-F238E27FC236}">
                <a16:creationId xmlns:a16="http://schemas.microsoft.com/office/drawing/2014/main" id="{46C0AD24-B617-4C10-A68E-508AE86E2BD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3073" y="9116675"/>
            <a:ext cx="594329" cy="542123"/>
          </a:xfrm>
          <a:prstGeom prst="rect">
            <a:avLst/>
          </a:prstGeom>
        </p:spPr>
      </p:pic>
      <p:sp>
        <p:nvSpPr>
          <p:cNvPr id="2056" name="TextBox 2055">
            <a:extLst>
              <a:ext uri="{FF2B5EF4-FFF2-40B4-BE49-F238E27FC236}">
                <a16:creationId xmlns:a16="http://schemas.microsoft.com/office/drawing/2014/main" id="{5113D87D-D7EA-4A7A-0D86-E857663F5DB2}"/>
              </a:ext>
            </a:extLst>
          </p:cNvPr>
          <p:cNvSpPr txBox="1"/>
          <p:nvPr/>
        </p:nvSpPr>
        <p:spPr>
          <a:xfrm>
            <a:off x="12865973" y="9026952"/>
            <a:ext cx="28696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Est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Gravity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(GU)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822D7C9E-0EE2-AE2B-A5E2-9AA03FEAE564}"/>
              </a:ext>
            </a:extLst>
          </p:cNvPr>
          <p:cNvSpPr txBox="1"/>
          <p:nvPr/>
        </p:nvSpPr>
        <p:spPr>
          <a:xfrm>
            <a:off x="12735651" y="11023348"/>
            <a:ext cx="2474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Total CO2 56.8kg</a:t>
            </a:r>
          </a:p>
        </p:txBody>
      </p:sp>
      <p:pic>
        <p:nvPicPr>
          <p:cNvPr id="2080" name="Picture 2079">
            <a:extLst>
              <a:ext uri="{FF2B5EF4-FFF2-40B4-BE49-F238E27FC236}">
                <a16:creationId xmlns:a16="http://schemas.microsoft.com/office/drawing/2014/main" id="{4BDBD993-8832-2EDF-D861-4FB99D071A2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74817" y="9854537"/>
            <a:ext cx="5074143" cy="542123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918F8457-53F7-9196-8398-678CE9610AB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28473" y="9853275"/>
            <a:ext cx="594329" cy="542123"/>
          </a:xfrm>
          <a:prstGeom prst="rect">
            <a:avLst/>
          </a:prstGeom>
        </p:spPr>
      </p:pic>
      <p:sp>
        <p:nvSpPr>
          <p:cNvPr id="2082" name="TextBox 2081">
            <a:extLst>
              <a:ext uri="{FF2B5EF4-FFF2-40B4-BE49-F238E27FC236}">
                <a16:creationId xmlns:a16="http://schemas.microsoft.com/office/drawing/2014/main" id="{E18E854D-1A7B-031C-BE8C-9260F67A65BF}"/>
              </a:ext>
            </a:extLst>
          </p:cNvPr>
          <p:cNvSpPr txBox="1"/>
          <p:nvPr/>
        </p:nvSpPr>
        <p:spPr>
          <a:xfrm>
            <a:off x="12891373" y="9763552"/>
            <a:ext cx="2338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ABV </a:t>
            </a:r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now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(%)</a:t>
            </a:r>
          </a:p>
        </p:txBody>
      </p:sp>
      <p:pic>
        <p:nvPicPr>
          <p:cNvPr id="2086" name="Picture 2085">
            <a:extLst>
              <a:ext uri="{FF2B5EF4-FFF2-40B4-BE49-F238E27FC236}">
                <a16:creationId xmlns:a16="http://schemas.microsoft.com/office/drawing/2014/main" id="{815F17CA-6BE6-2AA6-1929-D9D12E8636E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96" b="9951"/>
          <a:stretch/>
        </p:blipFill>
        <p:spPr>
          <a:xfrm>
            <a:off x="7451724" y="9548349"/>
            <a:ext cx="3408237" cy="1228896"/>
          </a:xfrm>
          <a:prstGeom prst="rect">
            <a:avLst/>
          </a:prstGeom>
        </p:spPr>
      </p:pic>
      <p:pic>
        <p:nvPicPr>
          <p:cNvPr id="2053" name="Picture 2052">
            <a:extLst>
              <a:ext uri="{FF2B5EF4-FFF2-40B4-BE49-F238E27FC236}">
                <a16:creationId xmlns:a16="http://schemas.microsoft.com/office/drawing/2014/main" id="{E2DD3B56-F978-1CEE-A61F-9B98BB847730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0A090A"/>
              </a:clrFrom>
              <a:clrTo>
                <a:srgbClr val="0A090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2576" y="8685316"/>
            <a:ext cx="908159" cy="1359169"/>
          </a:xfrm>
          <a:prstGeom prst="rect">
            <a:avLst/>
          </a:prstGeom>
        </p:spPr>
      </p:pic>
      <p:sp>
        <p:nvSpPr>
          <p:cNvPr id="2052" name="TextBox 2051">
            <a:extLst>
              <a:ext uri="{FF2B5EF4-FFF2-40B4-BE49-F238E27FC236}">
                <a16:creationId xmlns:a16="http://schemas.microsoft.com/office/drawing/2014/main" id="{A6BFE8DE-1D10-9B54-E8AE-602C7BDE14E1}"/>
              </a:ext>
            </a:extLst>
          </p:cNvPr>
          <p:cNvSpPr txBox="1"/>
          <p:nvPr/>
        </p:nvSpPr>
        <p:spPr>
          <a:xfrm>
            <a:off x="10058495" y="9055666"/>
            <a:ext cx="1101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1.038</a:t>
            </a: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8B658B2D-5C51-81F6-41ED-67D115EA5135}"/>
              </a:ext>
            </a:extLst>
          </p:cNvPr>
          <p:cNvSpPr txBox="1"/>
          <p:nvPr/>
        </p:nvSpPr>
        <p:spPr>
          <a:xfrm>
            <a:off x="10048609" y="9816639"/>
            <a:ext cx="1101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5.6</a:t>
            </a:r>
          </a:p>
        </p:txBody>
      </p:sp>
    </p:spTree>
    <p:extLst>
      <p:ext uri="{BB962C8B-B14F-4D97-AF65-F5344CB8AC3E}">
        <p14:creationId xmlns:p14="http://schemas.microsoft.com/office/powerpoint/2010/main" val="170844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F943-951C-4CE7-07AF-C047DEBC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D08E3D-5D6B-7883-30F7-959330E97D4A}"/>
              </a:ext>
            </a:extLst>
          </p:cNvPr>
          <p:cNvSpPr/>
          <p:nvPr/>
        </p:nvSpPr>
        <p:spPr>
          <a:xfrm>
            <a:off x="-44966" y="0"/>
            <a:ext cx="17280000" cy="1152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CF961-A1BA-07FA-8512-74207D4CE16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18496"/>
          <a:stretch/>
        </p:blipFill>
        <p:spPr>
          <a:xfrm>
            <a:off x="4675356" y="0"/>
            <a:ext cx="12558007" cy="11534989"/>
          </a:xfrm>
          <a:prstGeom prst="rect">
            <a:avLst/>
          </a:prstGeom>
        </p:spPr>
      </p:pic>
      <p:pic>
        <p:nvPicPr>
          <p:cNvPr id="2050" name="Picture 2" descr="brewery fermenters">
            <a:extLst>
              <a:ext uri="{FF2B5EF4-FFF2-40B4-BE49-F238E27FC236}">
                <a16:creationId xmlns:a16="http://schemas.microsoft.com/office/drawing/2014/main" id="{E5E99905-359A-4BE1-4D28-673639BA7F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0" r="32181"/>
          <a:stretch/>
        </p:blipFill>
        <p:spPr bwMode="auto">
          <a:xfrm>
            <a:off x="505838" y="2426741"/>
            <a:ext cx="3949430" cy="897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58ABE-2AE5-8FE6-7259-7CB111D3707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64" y="400282"/>
            <a:ext cx="807348" cy="808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BE89B6-A438-4850-46F4-21868AC0CD2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3794158" y="374132"/>
            <a:ext cx="807348" cy="80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9BBA88-73A5-5195-F9CA-760EE0D77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49" y="400283"/>
            <a:ext cx="1341647" cy="8034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8296B3B-9234-C345-E846-775B335D8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707" y="7373767"/>
            <a:ext cx="3581900" cy="1228896"/>
          </a:xfrm>
          <a:prstGeom prst="rect">
            <a:avLst/>
          </a:prstGeom>
        </p:spPr>
      </p:pic>
      <p:pic>
        <p:nvPicPr>
          <p:cNvPr id="2062" name="Picture 2061">
            <a:extLst>
              <a:ext uri="{FF2B5EF4-FFF2-40B4-BE49-F238E27FC236}">
                <a16:creationId xmlns:a16="http://schemas.microsoft.com/office/drawing/2014/main" id="{36435A1D-C8CE-ACA3-5C8F-88DD42BECA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313" y="3216740"/>
            <a:ext cx="5054829" cy="542123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2E9979B0-1A33-ED88-59D4-6239003DF36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54419" y="3207015"/>
            <a:ext cx="594329" cy="542123"/>
          </a:xfrm>
          <a:prstGeom prst="rect">
            <a:avLst/>
          </a:prstGeom>
        </p:spPr>
      </p:pic>
      <p:pic>
        <p:nvPicPr>
          <p:cNvPr id="2068" name="Picture 2067">
            <a:extLst>
              <a:ext uri="{FF2B5EF4-FFF2-40B4-BE49-F238E27FC236}">
                <a16:creationId xmlns:a16="http://schemas.microsoft.com/office/drawing/2014/main" id="{6C8E8337-3200-8E00-01E1-8354B70F78D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9" y="3961809"/>
            <a:ext cx="5054829" cy="542123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9D715517-1EF0-E8F6-2A5B-AA479B49E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6849" y="4647607"/>
            <a:ext cx="5054830" cy="542123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328200A1-A243-4991-6911-80472F7A4A7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461192" y="4646345"/>
            <a:ext cx="594329" cy="542123"/>
          </a:xfrm>
          <a:prstGeom prst="rect">
            <a:avLst/>
          </a:prstGeom>
        </p:spPr>
      </p:pic>
      <p:pic>
        <p:nvPicPr>
          <p:cNvPr id="2077" name="Picture 2076">
            <a:extLst>
              <a:ext uri="{FF2B5EF4-FFF2-40B4-BE49-F238E27FC236}">
                <a16:creationId xmlns:a16="http://schemas.microsoft.com/office/drawing/2014/main" id="{025BB43E-3D65-295E-13EA-58C1525DC20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66566" y="3938750"/>
            <a:ext cx="594329" cy="565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816F38-17D2-C33A-A3F1-D3D29702DF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41668" y="5871714"/>
            <a:ext cx="5056496" cy="542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40BC9-DD62-289A-E444-5F2AA27E9AC1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62440" y="5861989"/>
            <a:ext cx="594329" cy="5421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382154-5EF0-CA0F-97B6-99DCBB8217D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41668" y="6616788"/>
            <a:ext cx="5048032" cy="5421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F134F2-2101-6F84-8581-4C392192E9D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33204" y="7302586"/>
            <a:ext cx="5056496" cy="542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D314BD-954E-30DB-BA91-FCEB2F4DBFA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69213" y="7301324"/>
            <a:ext cx="594329" cy="5421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F1BB11-D7C2-B9A0-C0FE-1033E399CE7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474588" y="6576796"/>
            <a:ext cx="594329" cy="5421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10F051-3C7A-DBD8-4745-D72A3481A8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3204" y="8362423"/>
            <a:ext cx="5074143" cy="5421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F39446-8C9C-AC81-93F5-A73256EB74F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486860" y="8361161"/>
            <a:ext cx="594329" cy="5421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D7648B2-2586-CEFC-26F7-4E7CC77B9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376" y="4936976"/>
            <a:ext cx="3581900" cy="1228896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40C356C9-CECF-178C-C0F9-A6FE67907AB3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090909"/>
              </a:clrFrom>
              <a:clrTo>
                <a:srgbClr val="09090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29140" y="5967006"/>
            <a:ext cx="946935" cy="1848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429D74-B3E3-ADCC-8FB4-7E1F547F62BA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0B0C0B"/>
              </a:clrFrom>
              <a:clrTo>
                <a:srgbClr val="0B0C0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2547" y="3591654"/>
            <a:ext cx="741146" cy="15874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563C54-9A37-A455-DF3D-E3CCDD0BA4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7356" y="4925940"/>
            <a:ext cx="2855912" cy="1028844"/>
          </a:xfrm>
          <a:prstGeom prst="rect">
            <a:avLst/>
          </a:prstGeom>
        </p:spPr>
      </p:pic>
      <p:pic>
        <p:nvPicPr>
          <p:cNvPr id="2049" name="Picture 2048">
            <a:extLst>
              <a:ext uri="{FF2B5EF4-FFF2-40B4-BE49-F238E27FC236}">
                <a16:creationId xmlns:a16="http://schemas.microsoft.com/office/drawing/2014/main" id="{B5724D89-A5DE-132E-0B61-279BA384CD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5923" y="5947954"/>
            <a:ext cx="2766060" cy="1236514"/>
          </a:xfrm>
          <a:prstGeom prst="rect">
            <a:avLst/>
          </a:prstGeom>
        </p:spPr>
      </p:pic>
      <p:pic>
        <p:nvPicPr>
          <p:cNvPr id="2054" name="Picture 2053">
            <a:extLst>
              <a:ext uri="{FF2B5EF4-FFF2-40B4-BE49-F238E27FC236}">
                <a16:creationId xmlns:a16="http://schemas.microsoft.com/office/drawing/2014/main" id="{BA8603BF-DFC2-77BD-0AA7-514EC2F7BD8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49417" y="9117937"/>
            <a:ext cx="5074143" cy="542123"/>
          </a:xfrm>
          <a:prstGeom prst="rect">
            <a:avLst/>
          </a:prstGeom>
        </p:spPr>
      </p:pic>
      <p:pic>
        <p:nvPicPr>
          <p:cNvPr id="2055" name="Picture 2054">
            <a:extLst>
              <a:ext uri="{FF2B5EF4-FFF2-40B4-BE49-F238E27FC236}">
                <a16:creationId xmlns:a16="http://schemas.microsoft.com/office/drawing/2014/main" id="{3EBEB3FE-E19A-3999-3C80-D2B52B17289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3073" y="9116675"/>
            <a:ext cx="594329" cy="542123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FDBCE876-E48B-AEC9-C00A-CF3A9DB16E0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74817" y="9854537"/>
            <a:ext cx="5074143" cy="542123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D3F37FB2-3FEF-307D-28AD-A363282D847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28473" y="9853275"/>
            <a:ext cx="594329" cy="542123"/>
          </a:xfrm>
          <a:prstGeom prst="rect">
            <a:avLst/>
          </a:prstGeom>
        </p:spPr>
      </p:pic>
      <p:pic>
        <p:nvPicPr>
          <p:cNvPr id="2086" name="Picture 2085">
            <a:extLst>
              <a:ext uri="{FF2B5EF4-FFF2-40B4-BE49-F238E27FC236}">
                <a16:creationId xmlns:a16="http://schemas.microsoft.com/office/drawing/2014/main" id="{D4759ACC-1F5F-CA89-68E9-250ED5AF5FA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96" b="9951"/>
          <a:stretch/>
        </p:blipFill>
        <p:spPr>
          <a:xfrm>
            <a:off x="7451724" y="9548349"/>
            <a:ext cx="3408237" cy="1228896"/>
          </a:xfrm>
          <a:prstGeom prst="rect">
            <a:avLst/>
          </a:prstGeom>
        </p:spPr>
      </p:pic>
      <p:pic>
        <p:nvPicPr>
          <p:cNvPr id="2053" name="Picture 2052">
            <a:extLst>
              <a:ext uri="{FF2B5EF4-FFF2-40B4-BE49-F238E27FC236}">
                <a16:creationId xmlns:a16="http://schemas.microsoft.com/office/drawing/2014/main" id="{55F93DA7-76A9-1D2E-8B96-46BBB4254C4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0A090A"/>
              </a:clrFrom>
              <a:clrTo>
                <a:srgbClr val="0A090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2576" y="8685316"/>
            <a:ext cx="908159" cy="13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66A5-77DB-C170-8F1F-3270934C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658217-0DAD-F3B8-0C5C-010D79FD1E1F}"/>
              </a:ext>
            </a:extLst>
          </p:cNvPr>
          <p:cNvSpPr/>
          <p:nvPr/>
        </p:nvSpPr>
        <p:spPr>
          <a:xfrm>
            <a:off x="-44966" y="0"/>
            <a:ext cx="17280000" cy="1152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06BD8D-0FDE-E6A4-D410-A24C56B62C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18496"/>
          <a:stretch/>
        </p:blipFill>
        <p:spPr>
          <a:xfrm>
            <a:off x="4675356" y="-19050"/>
            <a:ext cx="12558007" cy="11534989"/>
          </a:xfrm>
          <a:prstGeom prst="rect">
            <a:avLst/>
          </a:prstGeom>
        </p:spPr>
      </p:pic>
      <p:pic>
        <p:nvPicPr>
          <p:cNvPr id="2050" name="Picture 2" descr="brewery fermenters">
            <a:extLst>
              <a:ext uri="{FF2B5EF4-FFF2-40B4-BE49-F238E27FC236}">
                <a16:creationId xmlns:a16="http://schemas.microsoft.com/office/drawing/2014/main" id="{BC84196A-B360-518C-8D8B-DDDFDE010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0" r="32181"/>
          <a:stretch/>
        </p:blipFill>
        <p:spPr bwMode="auto">
          <a:xfrm>
            <a:off x="505838" y="2426741"/>
            <a:ext cx="3949430" cy="897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4DB7E6-AFA1-3B79-700B-12DFA834C1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64" y="400282"/>
            <a:ext cx="807348" cy="808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21897-809A-3F4E-104D-08144D4EA6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3794158" y="374132"/>
            <a:ext cx="807348" cy="80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7D6B2C-821C-BE51-E57F-3954EBBAA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49" y="400283"/>
            <a:ext cx="1341647" cy="8034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9F1292-C9FB-F95C-81B1-40E91D41E0EE}"/>
              </a:ext>
            </a:extLst>
          </p:cNvPr>
          <p:cNvSpPr txBox="1"/>
          <p:nvPr/>
        </p:nvSpPr>
        <p:spPr>
          <a:xfrm>
            <a:off x="2460258" y="161255"/>
            <a:ext cx="11993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wiss911 UCm BT" panose="020B0608020202060204" pitchFamily="34" charset="0"/>
              </a:rPr>
              <a:t>152</a:t>
            </a:r>
            <a:endParaRPr lang="pt-BR" sz="5400" b="1" dirty="0">
              <a:solidFill>
                <a:schemeClr val="accent4">
                  <a:lumMod val="40000"/>
                  <a:lumOff val="60000"/>
                </a:schemeClr>
              </a:solidFill>
              <a:latin typeface="Swiss911 UCm BT" panose="020B060802020206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C7677F-5470-28A0-0042-0EA2E97819F2}"/>
              </a:ext>
            </a:extLst>
          </p:cNvPr>
          <p:cNvSpPr txBox="1"/>
          <p:nvPr/>
        </p:nvSpPr>
        <p:spPr>
          <a:xfrm>
            <a:off x="1505136" y="3748738"/>
            <a:ext cx="1638590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4400" b="1" dirty="0">
                <a:solidFill>
                  <a:schemeClr val="accent5">
                    <a:lumMod val="50000"/>
                  </a:schemeClr>
                </a:solidFill>
                <a:latin typeface="Swiss911 UCm BT" panose="020B0608020202060204" pitchFamily="34" charset="0"/>
              </a:rPr>
              <a:t>2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9AFC20B-43E4-447D-BA94-B8E32B55DF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707" y="9507367"/>
            <a:ext cx="3581900" cy="122889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5ED57A1-2C34-676B-3C88-28F5F3368402}"/>
              </a:ext>
            </a:extLst>
          </p:cNvPr>
          <p:cNvSpPr txBox="1"/>
          <p:nvPr/>
        </p:nvSpPr>
        <p:spPr>
          <a:xfrm>
            <a:off x="7866199" y="174781"/>
            <a:ext cx="8712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800" dirty="0">
                <a:solidFill>
                  <a:srgbClr val="FF66FF"/>
                </a:solidFill>
                <a:latin typeface="Swiss911 UCm BT" panose="020B0608020202060204" pitchFamily="34" charset="0"/>
              </a:rPr>
              <a:t>New </a:t>
            </a:r>
            <a:r>
              <a:rPr lang="pt-BR" sz="8800" dirty="0" err="1">
                <a:solidFill>
                  <a:srgbClr val="FF66FF"/>
                </a:solidFill>
                <a:latin typeface="Swiss911 UCm BT" panose="020B0608020202060204" pitchFamily="34" charset="0"/>
              </a:rPr>
              <a:t>zealand</a:t>
            </a:r>
            <a:r>
              <a:rPr lang="pt-BR" sz="8800" dirty="0">
                <a:solidFill>
                  <a:srgbClr val="FF66FF"/>
                </a:solidFill>
                <a:latin typeface="Swiss911 UCm BT" panose="020B0608020202060204" pitchFamily="34" charset="0"/>
              </a:rPr>
              <a:t> American Pale Ale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121DBFA8-960A-FCDB-C887-48F36B62AD4E}"/>
              </a:ext>
            </a:extLst>
          </p:cNvPr>
          <p:cNvSpPr txBox="1"/>
          <p:nvPr/>
        </p:nvSpPr>
        <p:spPr>
          <a:xfrm>
            <a:off x="4529118" y="2934383"/>
            <a:ext cx="257350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500" dirty="0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17.2</a:t>
            </a: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928DAFD7-EDA7-5773-A3BD-DAAE538C465B}"/>
              </a:ext>
            </a:extLst>
          </p:cNvPr>
          <p:cNvSpPr txBox="1"/>
          <p:nvPr/>
        </p:nvSpPr>
        <p:spPr>
          <a:xfrm>
            <a:off x="9270896" y="3503347"/>
            <a:ext cx="170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pic>
        <p:nvPicPr>
          <p:cNvPr id="2068" name="Picture 2067">
            <a:extLst>
              <a:ext uri="{FF2B5EF4-FFF2-40B4-BE49-F238E27FC236}">
                <a16:creationId xmlns:a16="http://schemas.microsoft.com/office/drawing/2014/main" id="{8D666313-8951-1460-651D-92E7158F004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9" y="3369142"/>
            <a:ext cx="5152960" cy="759919"/>
          </a:xfrm>
          <a:prstGeom prst="rect">
            <a:avLst/>
          </a:prstGeom>
        </p:spPr>
      </p:pic>
      <p:sp>
        <p:nvSpPr>
          <p:cNvPr id="2069" name="TextBox 2068">
            <a:extLst>
              <a:ext uri="{FF2B5EF4-FFF2-40B4-BE49-F238E27FC236}">
                <a16:creationId xmlns:a16="http://schemas.microsoft.com/office/drawing/2014/main" id="{DE2B51D6-209F-55B0-5C6C-737BCDD4AEC0}"/>
              </a:ext>
            </a:extLst>
          </p:cNvPr>
          <p:cNvSpPr txBox="1"/>
          <p:nvPr/>
        </p:nvSpPr>
        <p:spPr>
          <a:xfrm>
            <a:off x="12850651" y="3285063"/>
            <a:ext cx="2244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(ºC)</a:t>
            </a: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D7B62B28-D132-1074-680A-22462A0B8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6848" y="4323539"/>
            <a:ext cx="5152961" cy="830132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82614D35-BD5B-EC10-8AA3-98DE3B91EFE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509422" y="4312946"/>
            <a:ext cx="594329" cy="865362"/>
          </a:xfrm>
          <a:prstGeom prst="rect">
            <a:avLst/>
          </a:prstGeom>
        </p:spPr>
      </p:pic>
      <p:sp>
        <p:nvSpPr>
          <p:cNvPr id="2073" name="TextBox 2072">
            <a:extLst>
              <a:ext uri="{FF2B5EF4-FFF2-40B4-BE49-F238E27FC236}">
                <a16:creationId xmlns:a16="http://schemas.microsoft.com/office/drawing/2014/main" id="{BD4B9421-8ADA-E3D6-2C1E-581624FB41B6}"/>
              </a:ext>
            </a:extLst>
          </p:cNvPr>
          <p:cNvSpPr txBox="1"/>
          <p:nvPr/>
        </p:nvSpPr>
        <p:spPr>
          <a:xfrm>
            <a:off x="12668617" y="4368797"/>
            <a:ext cx="3122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Slow</a:t>
            </a:r>
            <a:r>
              <a:rPr lang="pt-BR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(ºC)</a:t>
            </a:r>
          </a:p>
        </p:txBody>
      </p:sp>
      <p:pic>
        <p:nvPicPr>
          <p:cNvPr id="2077" name="Picture 2076">
            <a:extLst>
              <a:ext uri="{FF2B5EF4-FFF2-40B4-BE49-F238E27FC236}">
                <a16:creationId xmlns:a16="http://schemas.microsoft.com/office/drawing/2014/main" id="{6E1E3A3D-0339-2795-4A5C-5C01521BD6E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3346082"/>
            <a:ext cx="594329" cy="7825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AA466-8E93-3487-BB98-9A92BBE1D577}"/>
              </a:ext>
            </a:extLst>
          </p:cNvPr>
          <p:cNvSpPr txBox="1"/>
          <p:nvPr/>
        </p:nvSpPr>
        <p:spPr>
          <a:xfrm>
            <a:off x="9408955" y="8941480"/>
            <a:ext cx="170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A51589-1318-D0AE-FDA6-FEFF1D8D9D7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8" y="8422427"/>
            <a:ext cx="5146031" cy="7837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BD585A-E59A-A219-9641-2E3A4A3F687A}"/>
              </a:ext>
            </a:extLst>
          </p:cNvPr>
          <p:cNvSpPr txBox="1"/>
          <p:nvPr/>
        </p:nvSpPr>
        <p:spPr>
          <a:xfrm>
            <a:off x="12735651" y="8463469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Setpoint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(bar)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E642B-5C3A-E767-9961-E53D5095A147}"/>
              </a:ext>
            </a:extLst>
          </p:cNvPr>
          <p:cNvSpPr txBox="1"/>
          <p:nvPr/>
        </p:nvSpPr>
        <p:spPr>
          <a:xfrm>
            <a:off x="9417417" y="9627278"/>
            <a:ext cx="1706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5.3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EFB946-4179-D017-185C-954A30933C1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8" y="9416162"/>
            <a:ext cx="5154659" cy="8034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48239C-9099-371C-5C53-FD16AFB6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9435973"/>
            <a:ext cx="594329" cy="7823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99A914D-DDC4-BC7F-2590-090F9564BD31}"/>
              </a:ext>
            </a:extLst>
          </p:cNvPr>
          <p:cNvSpPr txBox="1"/>
          <p:nvPr/>
        </p:nvSpPr>
        <p:spPr>
          <a:xfrm>
            <a:off x="12832113" y="9586501"/>
            <a:ext cx="250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Vents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per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hour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A1B790-56B0-98F9-A7EE-BE174914790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8430995"/>
            <a:ext cx="594329" cy="7823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91A9B8-ECF1-9EF6-D931-1972173E71F9}"/>
              </a:ext>
            </a:extLst>
          </p:cNvPr>
          <p:cNvSpPr txBox="1"/>
          <p:nvPr/>
        </p:nvSpPr>
        <p:spPr>
          <a:xfrm>
            <a:off x="10048609" y="6049595"/>
            <a:ext cx="1101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87.2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B98000-0B19-9863-EDA1-B0D44EFF7F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26850" y="5937380"/>
            <a:ext cx="5152960" cy="8034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221AEC-4BE7-96BA-6EC0-95569CAB4CE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9422" y="5917067"/>
            <a:ext cx="594329" cy="8034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C833F9-5569-A64F-B284-48E5EA93A15F}"/>
              </a:ext>
            </a:extLst>
          </p:cNvPr>
          <p:cNvSpPr txBox="1"/>
          <p:nvPr/>
        </p:nvSpPr>
        <p:spPr>
          <a:xfrm>
            <a:off x="11255910" y="5998795"/>
            <a:ext cx="2593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Est</a:t>
            </a:r>
            <a:r>
              <a:rPr lang="pt-BR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Volume (L)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C025388-A2D3-8571-27EB-E86A999E5F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376" y="4931457"/>
            <a:ext cx="3581900" cy="1228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ABF4E1-8639-42CB-C265-A617D96854A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0B0C0B"/>
              </a:clrFrom>
              <a:clrTo>
                <a:srgbClr val="0B0C0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12547" y="3591654"/>
            <a:ext cx="741146" cy="15874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3A12F2-59EE-CC0F-C487-136B84DC0F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771" y="4895021"/>
            <a:ext cx="2855912" cy="1028844"/>
          </a:xfrm>
          <a:prstGeom prst="rect">
            <a:avLst/>
          </a:prstGeom>
        </p:spPr>
      </p:pic>
      <p:pic>
        <p:nvPicPr>
          <p:cNvPr id="2049" name="Picture 2048">
            <a:extLst>
              <a:ext uri="{FF2B5EF4-FFF2-40B4-BE49-F238E27FC236}">
                <a16:creationId xmlns:a16="http://schemas.microsoft.com/office/drawing/2014/main" id="{4A1C5D0E-BABB-9519-8991-C277AC5847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5923" y="8081554"/>
            <a:ext cx="2766060" cy="1236514"/>
          </a:xfrm>
          <a:prstGeom prst="rect">
            <a:avLst/>
          </a:prstGeom>
        </p:spPr>
      </p:pic>
      <p:sp>
        <p:nvSpPr>
          <p:cNvPr id="2070" name="TextBox 2069">
            <a:extLst>
              <a:ext uri="{FF2B5EF4-FFF2-40B4-BE49-F238E27FC236}">
                <a16:creationId xmlns:a16="http://schemas.microsoft.com/office/drawing/2014/main" id="{75DCB3AE-1881-AD03-AE27-DFD5A504B1BF}"/>
              </a:ext>
            </a:extLst>
          </p:cNvPr>
          <p:cNvSpPr txBox="1"/>
          <p:nvPr/>
        </p:nvSpPr>
        <p:spPr>
          <a:xfrm>
            <a:off x="9409397" y="4597399"/>
            <a:ext cx="1714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17.0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EFF7CF83-D72C-D2B4-B671-0E60F9435A9F}"/>
              </a:ext>
            </a:extLst>
          </p:cNvPr>
          <p:cNvSpPr txBox="1"/>
          <p:nvPr/>
        </p:nvSpPr>
        <p:spPr>
          <a:xfrm>
            <a:off x="12735651" y="11023348"/>
            <a:ext cx="2474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Total CO2 56.8kg</a:t>
            </a:r>
          </a:p>
        </p:txBody>
      </p:sp>
      <p:pic>
        <p:nvPicPr>
          <p:cNvPr id="2080" name="Picture 2079">
            <a:extLst>
              <a:ext uri="{FF2B5EF4-FFF2-40B4-BE49-F238E27FC236}">
                <a16:creationId xmlns:a16="http://schemas.microsoft.com/office/drawing/2014/main" id="{94BDD184-6C5E-49EA-6114-F92B5B43930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26850" y="6942414"/>
            <a:ext cx="5152960" cy="819654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87A6E809-2200-F267-7C9D-66596FF13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9422" y="6934799"/>
            <a:ext cx="594329" cy="819655"/>
          </a:xfrm>
          <a:prstGeom prst="rect">
            <a:avLst/>
          </a:prstGeom>
        </p:spPr>
      </p:pic>
      <p:sp>
        <p:nvSpPr>
          <p:cNvPr id="2082" name="TextBox 2081">
            <a:extLst>
              <a:ext uri="{FF2B5EF4-FFF2-40B4-BE49-F238E27FC236}">
                <a16:creationId xmlns:a16="http://schemas.microsoft.com/office/drawing/2014/main" id="{15CD8A11-FCC6-9442-100A-A155900C484A}"/>
              </a:ext>
            </a:extLst>
          </p:cNvPr>
          <p:cNvSpPr txBox="1"/>
          <p:nvPr/>
        </p:nvSpPr>
        <p:spPr>
          <a:xfrm>
            <a:off x="11322923" y="7001959"/>
            <a:ext cx="2338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ABV </a:t>
            </a:r>
            <a:r>
              <a:rPr lang="pt-BR" sz="4000" spc="300" dirty="0" err="1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now</a:t>
            </a:r>
            <a:r>
              <a:rPr lang="pt-BR" sz="40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(%)</a:t>
            </a:r>
          </a:p>
        </p:txBody>
      </p:sp>
      <p:pic>
        <p:nvPicPr>
          <p:cNvPr id="2086" name="Picture 2085">
            <a:extLst>
              <a:ext uri="{FF2B5EF4-FFF2-40B4-BE49-F238E27FC236}">
                <a16:creationId xmlns:a16="http://schemas.microsoft.com/office/drawing/2014/main" id="{1D47BC05-7EEA-9D12-A883-EA7BF3E9594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96" b="9951"/>
          <a:stretch/>
        </p:blipFill>
        <p:spPr>
          <a:xfrm>
            <a:off x="7451724" y="9548349"/>
            <a:ext cx="3408237" cy="1228896"/>
          </a:xfrm>
          <a:prstGeom prst="rect">
            <a:avLst/>
          </a:prstGeom>
        </p:spPr>
      </p:pic>
      <p:pic>
        <p:nvPicPr>
          <p:cNvPr id="2065" name="Picture 2064">
            <a:extLst>
              <a:ext uri="{FF2B5EF4-FFF2-40B4-BE49-F238E27FC236}">
                <a16:creationId xmlns:a16="http://schemas.microsoft.com/office/drawing/2014/main" id="{34E1DC20-65D3-9109-C7BF-44B7DA2916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4269" y="6934022"/>
            <a:ext cx="2629469" cy="2417415"/>
          </a:xfrm>
          <a:prstGeom prst="rect">
            <a:avLst/>
          </a:prstGeom>
        </p:spPr>
      </p:pic>
      <p:sp>
        <p:nvSpPr>
          <p:cNvPr id="2067" name="TextBox 2066">
            <a:extLst>
              <a:ext uri="{FF2B5EF4-FFF2-40B4-BE49-F238E27FC236}">
                <a16:creationId xmlns:a16="http://schemas.microsoft.com/office/drawing/2014/main" id="{AE07C531-5382-EF9E-FC03-893B74AFB625}"/>
              </a:ext>
            </a:extLst>
          </p:cNvPr>
          <p:cNvSpPr txBox="1"/>
          <p:nvPr/>
        </p:nvSpPr>
        <p:spPr>
          <a:xfrm>
            <a:off x="5006072" y="8237844"/>
            <a:ext cx="206009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500" dirty="0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1.65</a:t>
            </a:r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8FC0BC5A-8AA5-4E0C-B6D5-ACF0921CFAE3}"/>
              </a:ext>
            </a:extLst>
          </p:cNvPr>
          <p:cNvSpPr txBox="1"/>
          <p:nvPr/>
        </p:nvSpPr>
        <p:spPr>
          <a:xfrm>
            <a:off x="5731480" y="4462287"/>
            <a:ext cx="8624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6600" dirty="0" err="1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oC</a:t>
            </a:r>
            <a:endParaRPr lang="pt-BR" sz="6600" dirty="0">
              <a:solidFill>
                <a:srgbClr val="7030A0"/>
              </a:solidFill>
              <a:latin typeface="Swiss911 UCm BT" panose="020B0608020202060204" pitchFamily="34" charset="0"/>
              <a:cs typeface="Arial" panose="020B0604020202020204" pitchFamily="34" charset="0"/>
            </a:endParaRPr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30A89F20-B3EA-35DA-AC3C-32CD57DF2004}"/>
              </a:ext>
            </a:extLst>
          </p:cNvPr>
          <p:cNvSpPr txBox="1"/>
          <p:nvPr/>
        </p:nvSpPr>
        <p:spPr>
          <a:xfrm>
            <a:off x="5536120" y="9529587"/>
            <a:ext cx="10832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6600" dirty="0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bar</a:t>
            </a:r>
          </a:p>
        </p:txBody>
      </p:sp>
      <p:pic>
        <p:nvPicPr>
          <p:cNvPr id="2059" name="Picture 2058">
            <a:extLst>
              <a:ext uri="{FF2B5EF4-FFF2-40B4-BE49-F238E27FC236}">
                <a16:creationId xmlns:a16="http://schemas.microsoft.com/office/drawing/2014/main" id="{3D25C12E-724F-3EB6-405F-4EC9E5849C41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090909"/>
              </a:clrFrom>
              <a:clrTo>
                <a:srgbClr val="09090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29140" y="8519708"/>
            <a:ext cx="946935" cy="1848736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230FC18D-8F78-FE15-E273-ACF2E5E4F65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0105" y="6761380"/>
            <a:ext cx="3361829" cy="1386754"/>
          </a:xfrm>
          <a:prstGeom prst="rect">
            <a:avLst/>
          </a:prstGeom>
        </p:spPr>
      </p:pic>
      <p:pic>
        <p:nvPicPr>
          <p:cNvPr id="2053" name="Picture 2052">
            <a:extLst>
              <a:ext uri="{FF2B5EF4-FFF2-40B4-BE49-F238E27FC236}">
                <a16:creationId xmlns:a16="http://schemas.microsoft.com/office/drawing/2014/main" id="{B8F58D9C-4F8F-15A6-3AB5-24CB45002211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0A090A"/>
              </a:clrFrom>
              <a:clrTo>
                <a:srgbClr val="0A090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2576" y="6082473"/>
            <a:ext cx="908159" cy="1359169"/>
          </a:xfrm>
          <a:prstGeom prst="rect">
            <a:avLst/>
          </a:prstGeom>
        </p:spPr>
      </p:pic>
      <p:pic>
        <p:nvPicPr>
          <p:cNvPr id="2087" name="Picture 2086">
            <a:extLst>
              <a:ext uri="{FF2B5EF4-FFF2-40B4-BE49-F238E27FC236}">
                <a16:creationId xmlns:a16="http://schemas.microsoft.com/office/drawing/2014/main" id="{40AA3998-5FFA-16C2-FE96-467480C6B1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74512" y="5926514"/>
            <a:ext cx="3014821" cy="861612"/>
          </a:xfrm>
          <a:prstGeom prst="rect">
            <a:avLst/>
          </a:prstGeom>
        </p:spPr>
      </p:pic>
      <p:sp>
        <p:nvSpPr>
          <p:cNvPr id="2071" name="TextBox 2070">
            <a:extLst>
              <a:ext uri="{FF2B5EF4-FFF2-40B4-BE49-F238E27FC236}">
                <a16:creationId xmlns:a16="http://schemas.microsoft.com/office/drawing/2014/main" id="{2EC184D1-AB8A-4706-8489-987A96E7B6A3}"/>
              </a:ext>
            </a:extLst>
          </p:cNvPr>
          <p:cNvSpPr txBox="1"/>
          <p:nvPr/>
        </p:nvSpPr>
        <p:spPr>
          <a:xfrm>
            <a:off x="4724096" y="5734594"/>
            <a:ext cx="25352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500" dirty="0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1.035</a:t>
            </a:r>
          </a:p>
        </p:txBody>
      </p:sp>
      <p:sp>
        <p:nvSpPr>
          <p:cNvPr id="2088" name="TextBox 2087">
            <a:extLst>
              <a:ext uri="{FF2B5EF4-FFF2-40B4-BE49-F238E27FC236}">
                <a16:creationId xmlns:a16="http://schemas.microsoft.com/office/drawing/2014/main" id="{45DB68FB-5677-77CC-054A-81D584B150DA}"/>
              </a:ext>
            </a:extLst>
          </p:cNvPr>
          <p:cNvSpPr txBox="1"/>
          <p:nvPr/>
        </p:nvSpPr>
        <p:spPr>
          <a:xfrm>
            <a:off x="4747744" y="90705"/>
            <a:ext cx="26372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spc="300" dirty="0">
                <a:latin typeface="Swiss911 UCm BT" panose="020B0608020202060204" pitchFamily="34" charset="0"/>
              </a:rPr>
              <a:t>15/12/30</a:t>
            </a: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4C918C13-EFEB-88CE-33E4-639EADCE1520}"/>
              </a:ext>
            </a:extLst>
          </p:cNvPr>
          <p:cNvSpPr txBox="1"/>
          <p:nvPr/>
        </p:nvSpPr>
        <p:spPr>
          <a:xfrm>
            <a:off x="14758839" y="1880207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spc="3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OG 1.058</a:t>
            </a:r>
          </a:p>
        </p:txBody>
      </p:sp>
      <p:sp>
        <p:nvSpPr>
          <p:cNvPr id="2091" name="TextBox 2090">
            <a:extLst>
              <a:ext uri="{FF2B5EF4-FFF2-40B4-BE49-F238E27FC236}">
                <a16:creationId xmlns:a16="http://schemas.microsoft.com/office/drawing/2014/main" id="{3DE91A16-D745-38FC-1C52-13A8D3B3EA35}"/>
              </a:ext>
            </a:extLst>
          </p:cNvPr>
          <p:cNvSpPr txBox="1"/>
          <p:nvPr/>
        </p:nvSpPr>
        <p:spPr>
          <a:xfrm>
            <a:off x="4587851" y="7209713"/>
            <a:ext cx="3014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 err="1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starting</a:t>
            </a:r>
            <a:r>
              <a:rPr lang="pt-BR" sz="4800" dirty="0">
                <a:solidFill>
                  <a:srgbClr val="7030A0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 1.058</a:t>
            </a: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E1553415-FA42-3C27-764F-DD3E67F8832D}"/>
              </a:ext>
            </a:extLst>
          </p:cNvPr>
          <p:cNvSpPr txBox="1"/>
          <p:nvPr/>
        </p:nvSpPr>
        <p:spPr>
          <a:xfrm>
            <a:off x="10048609" y="6978846"/>
            <a:ext cx="1101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chemeClr val="bg1"/>
                </a:solidFill>
                <a:latin typeface="Swiss911 UCm BT" panose="020B0608020202060204" pitchFamily="34" charset="0"/>
                <a:cs typeface="Arial" panose="020B0604020202020204" pitchFamily="34" charset="0"/>
              </a:rPr>
              <a:t>5.6</a:t>
            </a:r>
          </a:p>
        </p:txBody>
      </p:sp>
      <p:sp>
        <p:nvSpPr>
          <p:cNvPr id="2092" name="Star: 5 Points 2091">
            <a:extLst>
              <a:ext uri="{FF2B5EF4-FFF2-40B4-BE49-F238E27FC236}">
                <a16:creationId xmlns:a16="http://schemas.microsoft.com/office/drawing/2014/main" id="{E925E3E0-BDBF-D502-60B9-345C424EA0D4}"/>
              </a:ext>
            </a:extLst>
          </p:cNvPr>
          <p:cNvSpPr/>
          <p:nvPr/>
        </p:nvSpPr>
        <p:spPr>
          <a:xfrm>
            <a:off x="666658" y="1066239"/>
            <a:ext cx="5985933" cy="3657351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Foi redimensionado depois, </a:t>
            </a:r>
            <a:r>
              <a:rPr lang="pt-BR" dirty="0" err="1"/>
              <a:t>diretamenteo</a:t>
            </a:r>
            <a:r>
              <a:rPr lang="pt-BR" dirty="0"/>
              <a:t> na versão sem texto</a:t>
            </a:r>
          </a:p>
        </p:txBody>
      </p:sp>
    </p:spTree>
    <p:extLst>
      <p:ext uri="{BB962C8B-B14F-4D97-AF65-F5344CB8AC3E}">
        <p14:creationId xmlns:p14="http://schemas.microsoft.com/office/powerpoint/2010/main" val="234711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3034-BE47-349A-25A6-8F2C7A79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9C817D-D8C5-9D13-5CE4-A2DE9A01B89A}"/>
              </a:ext>
            </a:extLst>
          </p:cNvPr>
          <p:cNvSpPr/>
          <p:nvPr/>
        </p:nvSpPr>
        <p:spPr>
          <a:xfrm>
            <a:off x="-44966" y="0"/>
            <a:ext cx="17280000" cy="1152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6985C-01C6-9B5B-DA32-7656F24A12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18496"/>
          <a:stretch/>
        </p:blipFill>
        <p:spPr>
          <a:xfrm>
            <a:off x="4675356" y="-19050"/>
            <a:ext cx="12558007" cy="11534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B47FD3-C726-4F07-8BF4-E10229FA257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64" y="400282"/>
            <a:ext cx="807348" cy="808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F3D34D-D4B4-2A76-3689-A97CA7F62BE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3794158" y="374132"/>
            <a:ext cx="807348" cy="80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256DD7-5908-2302-8037-49A12C234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749" y="400283"/>
            <a:ext cx="1341647" cy="8034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9A14C4-B6CC-2D0C-7ED0-78152682E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707" y="9507367"/>
            <a:ext cx="3581900" cy="1228896"/>
          </a:xfrm>
          <a:prstGeom prst="rect">
            <a:avLst/>
          </a:prstGeom>
        </p:spPr>
      </p:pic>
      <p:pic>
        <p:nvPicPr>
          <p:cNvPr id="2068" name="Picture 2067">
            <a:extLst>
              <a:ext uri="{FF2B5EF4-FFF2-40B4-BE49-F238E27FC236}">
                <a16:creationId xmlns:a16="http://schemas.microsoft.com/office/drawing/2014/main" id="{987ABD62-DA35-864F-C508-9F28808A217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9" y="3369142"/>
            <a:ext cx="5152960" cy="759919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30A4654B-6C87-C7B9-B6BC-53629644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48" y="4323539"/>
            <a:ext cx="5152961" cy="830132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71FEE9D9-FD98-D77C-99C7-1C52F85A220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16509422" y="4312946"/>
            <a:ext cx="594329" cy="865362"/>
          </a:xfrm>
          <a:prstGeom prst="rect">
            <a:avLst/>
          </a:prstGeom>
        </p:spPr>
      </p:pic>
      <p:pic>
        <p:nvPicPr>
          <p:cNvPr id="2077" name="Picture 2076">
            <a:extLst>
              <a:ext uri="{FF2B5EF4-FFF2-40B4-BE49-F238E27FC236}">
                <a16:creationId xmlns:a16="http://schemas.microsoft.com/office/drawing/2014/main" id="{08631329-E132-5C9C-7A8F-C25085663D6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3346082"/>
            <a:ext cx="594329" cy="782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1640F6-224D-C642-1564-5375C44D8F8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8" y="8422427"/>
            <a:ext cx="5146031" cy="7837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8FA95F-CBB3-BB7B-68C4-4CC3B8DBCC9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26848" y="9416162"/>
            <a:ext cx="5154659" cy="8034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7B8B37-FBFF-4867-EA3E-A50BF00A320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9435973"/>
            <a:ext cx="594329" cy="7823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F23FADA-FC71-9DDF-0F77-CE4CA0FD1E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6509422" y="8430995"/>
            <a:ext cx="594329" cy="7823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91BCC5-CDC1-8C41-7E67-6184E7EE79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26850" y="5937380"/>
            <a:ext cx="5152960" cy="8034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CF1ADD-6FBF-C751-7E54-02F001E6651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9422" y="5917067"/>
            <a:ext cx="594329" cy="8034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AB6B10-9280-BDCC-8C17-3A0A94E93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296" y="4931457"/>
            <a:ext cx="3581900" cy="1228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EBCDA8-1519-870C-ED28-122434E5D9DF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0B0C0B"/>
              </a:clrFrom>
              <a:clrTo>
                <a:srgbClr val="0B0C0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7750" y="3591654"/>
            <a:ext cx="741146" cy="15874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ABDDD4-49D3-C232-D4B2-DAF0ED0083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6771" y="4895021"/>
            <a:ext cx="2855912" cy="1028844"/>
          </a:xfrm>
          <a:prstGeom prst="rect">
            <a:avLst/>
          </a:prstGeom>
        </p:spPr>
      </p:pic>
      <p:pic>
        <p:nvPicPr>
          <p:cNvPr id="2049" name="Picture 2048">
            <a:extLst>
              <a:ext uri="{FF2B5EF4-FFF2-40B4-BE49-F238E27FC236}">
                <a16:creationId xmlns:a16="http://schemas.microsoft.com/office/drawing/2014/main" id="{C7216A36-5917-AB2C-3039-8F7DF35759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923" y="8081554"/>
            <a:ext cx="2766060" cy="1236514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93C96040-7B23-824D-5039-B4359C50A40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26850" y="6942414"/>
            <a:ext cx="5152960" cy="819654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68CDF3E7-B03E-9C4E-6B5A-A36465C4E13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16509422" y="6934799"/>
            <a:ext cx="594329" cy="819655"/>
          </a:xfrm>
          <a:prstGeom prst="rect">
            <a:avLst/>
          </a:prstGeom>
        </p:spPr>
      </p:pic>
      <p:pic>
        <p:nvPicPr>
          <p:cNvPr id="2086" name="Picture 2085">
            <a:extLst>
              <a:ext uri="{FF2B5EF4-FFF2-40B4-BE49-F238E27FC236}">
                <a16:creationId xmlns:a16="http://schemas.microsoft.com/office/drawing/2014/main" id="{BC8629C3-BF0E-CF27-A8FB-8BBA33284F1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96" b="9951"/>
          <a:stretch/>
        </p:blipFill>
        <p:spPr>
          <a:xfrm>
            <a:off x="7446644" y="9548349"/>
            <a:ext cx="3408237" cy="1228896"/>
          </a:xfrm>
          <a:prstGeom prst="rect">
            <a:avLst/>
          </a:prstGeom>
        </p:spPr>
      </p:pic>
      <p:pic>
        <p:nvPicPr>
          <p:cNvPr id="2065" name="Picture 2064">
            <a:extLst>
              <a:ext uri="{FF2B5EF4-FFF2-40B4-BE49-F238E27FC236}">
                <a16:creationId xmlns:a16="http://schemas.microsoft.com/office/drawing/2014/main" id="{E5CF0B2A-1699-113C-96A6-13FC108DF3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4269" y="6934022"/>
            <a:ext cx="2629469" cy="2417415"/>
          </a:xfrm>
          <a:prstGeom prst="rect">
            <a:avLst/>
          </a:prstGeom>
        </p:spPr>
      </p:pic>
      <p:pic>
        <p:nvPicPr>
          <p:cNvPr id="2059" name="Picture 2058">
            <a:extLst>
              <a:ext uri="{FF2B5EF4-FFF2-40B4-BE49-F238E27FC236}">
                <a16:creationId xmlns:a16="http://schemas.microsoft.com/office/drawing/2014/main" id="{99461E4B-6A60-81EA-B56F-D02EEBC8C851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090909"/>
              </a:clrFrom>
              <a:clrTo>
                <a:srgbClr val="09090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41277" y="8375771"/>
            <a:ext cx="946935" cy="1848736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9A4A5BE1-E2FC-7B52-A6D7-89B59B57642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0105" y="6761380"/>
            <a:ext cx="3361829" cy="1386754"/>
          </a:xfrm>
          <a:prstGeom prst="rect">
            <a:avLst/>
          </a:prstGeom>
        </p:spPr>
      </p:pic>
      <p:pic>
        <p:nvPicPr>
          <p:cNvPr id="2053" name="Picture 2052">
            <a:extLst>
              <a:ext uri="{FF2B5EF4-FFF2-40B4-BE49-F238E27FC236}">
                <a16:creationId xmlns:a16="http://schemas.microsoft.com/office/drawing/2014/main" id="{C47F13DC-2D57-D10D-CA55-0AFDDC9EFD81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0A090A"/>
              </a:clrFrom>
              <a:clrTo>
                <a:srgbClr val="0A090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43109" y="6167140"/>
            <a:ext cx="945103" cy="1359169"/>
          </a:xfrm>
          <a:prstGeom prst="rect">
            <a:avLst/>
          </a:prstGeom>
        </p:spPr>
      </p:pic>
      <p:pic>
        <p:nvPicPr>
          <p:cNvPr id="2087" name="Picture 2086">
            <a:extLst>
              <a:ext uri="{FF2B5EF4-FFF2-40B4-BE49-F238E27FC236}">
                <a16:creationId xmlns:a16="http://schemas.microsoft.com/office/drawing/2014/main" id="{EE510B93-9FC2-A776-67E1-FF5DA2BE87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74512" y="5926514"/>
            <a:ext cx="3014821" cy="861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DFA340-4167-2446-B4E7-209CB9EBB04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919" y="5569089"/>
            <a:ext cx="2662786" cy="10463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D517BD4-CC3A-4050-675B-F6A65F7CFFA9}"/>
              </a:ext>
            </a:extLst>
          </p:cNvPr>
          <p:cNvGrpSpPr/>
          <p:nvPr/>
        </p:nvGrpSpPr>
        <p:grpSpPr>
          <a:xfrm>
            <a:off x="-22052" y="2167468"/>
            <a:ext cx="4666951" cy="9866540"/>
            <a:chOff x="152402" y="2331912"/>
            <a:chExt cx="4543137" cy="9514449"/>
          </a:xfrm>
        </p:grpSpPr>
        <p:pic>
          <p:nvPicPr>
            <p:cNvPr id="2050" name="Picture 2" descr="brewery fermenters">
              <a:extLst>
                <a:ext uri="{FF2B5EF4-FFF2-40B4-BE49-F238E27FC236}">
                  <a16:creationId xmlns:a16="http://schemas.microsoft.com/office/drawing/2014/main" id="{CDCA479C-9577-9FC3-7D2C-574A3C0AB3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11542" r="33656"/>
            <a:stretch/>
          </p:blipFill>
          <p:spPr bwMode="auto">
            <a:xfrm>
              <a:off x="152402" y="2353733"/>
              <a:ext cx="4521283" cy="9492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A3F48D-77C0-C595-0295-03BC6EB35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400223" y="2331912"/>
              <a:ext cx="295316" cy="6087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564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8655</TotalTime>
  <Words>143</Words>
  <Application>Microsoft Office PowerPoint</Application>
  <PresentationFormat>Widescreen</PresentationFormat>
  <Paragraphs>65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Swiss911 UCm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Lucio Fialho</dc:creator>
  <cp:lastModifiedBy>Lucio Fialho</cp:lastModifiedBy>
  <cp:revision>15</cp:revision>
  <dcterms:created xsi:type="dcterms:W3CDTF">2025-05-06T13:11:35Z</dcterms:created>
  <dcterms:modified xsi:type="dcterms:W3CDTF">2025-05-12T13:27:40Z</dcterms:modified>
</cp:coreProperties>
</file>